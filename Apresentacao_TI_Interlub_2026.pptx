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PLANO ESTRATÉGICO &amp; REESTRUTURAÇÃO DE TI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rPr dirty="0" err="1"/>
              <a:t>Modernização</a:t>
            </a:r>
            <a:r>
              <a:rPr dirty="0"/>
              <a:t> da </a:t>
            </a:r>
            <a:r>
              <a:rPr dirty="0" err="1"/>
              <a:t>Infraestrutura</a:t>
            </a:r>
            <a:r>
              <a:rPr dirty="0"/>
              <a:t>, </a:t>
            </a:r>
            <a:r>
              <a:rPr dirty="0" err="1"/>
              <a:t>Segurança</a:t>
            </a:r>
            <a:r>
              <a:rPr dirty="0"/>
              <a:t> CIPA</a:t>
            </a:r>
            <a:r>
              <a:rPr lang="pt-BR" dirty="0"/>
              <a:t>A</a:t>
            </a:r>
            <a:r>
              <a:rPr dirty="0"/>
              <a:t> &amp; </a:t>
            </a:r>
            <a:r>
              <a:rPr dirty="0" err="1"/>
              <a:t>Governança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8755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Gestão de TI: Kauan Pereira | Base de Dados Organizada no TechControl | Data: Julho/2026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dirty="0"/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Estratégico</a:t>
            </a:r>
            <a:r>
              <a:rPr dirty="0"/>
              <a:t> —</a:t>
            </a:r>
            <a:r>
              <a:rPr lang="pt-BR" dirty="0"/>
              <a:t> </a:t>
            </a:r>
            <a:r>
              <a:rPr dirty="0"/>
              <a:t>TI Interlub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⚡ Performance &amp; Agilidade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Eliminação de gargalos técnicos em equipamentos obsoletos de 5 a 11 anos de uso.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109728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66344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rPr dirty="0"/>
              <a:t>🛡️ </a:t>
            </a:r>
            <a:r>
              <a:rPr dirty="0" err="1"/>
              <a:t>Segurança</a:t>
            </a:r>
            <a:r>
              <a:rPr dirty="0"/>
              <a:t> &amp; CIPA</a:t>
            </a:r>
            <a:r>
              <a:rPr lang="pt-BR" dirty="0"/>
              <a:t>A</a:t>
            </a: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rPr dirty="0" err="1"/>
              <a:t>Adequação</a:t>
            </a:r>
            <a:r>
              <a:rPr dirty="0"/>
              <a:t> </a:t>
            </a:r>
            <a:r>
              <a:rPr dirty="0" err="1"/>
              <a:t>às</a:t>
            </a:r>
            <a:r>
              <a:rPr dirty="0"/>
              <a:t> </a:t>
            </a:r>
            <a:r>
              <a:rPr dirty="0" err="1"/>
              <a:t>normas</a:t>
            </a:r>
            <a:r>
              <a:rPr dirty="0"/>
              <a:t> </a:t>
            </a:r>
            <a:r>
              <a:rPr dirty="0" err="1"/>
              <a:t>ergonômicas</a:t>
            </a:r>
            <a:r>
              <a:rPr dirty="0"/>
              <a:t> e </a:t>
            </a:r>
            <a:r>
              <a:rPr dirty="0" err="1"/>
              <a:t>prevenção</a:t>
            </a:r>
            <a:r>
              <a:rPr dirty="0"/>
              <a:t> de </a:t>
            </a:r>
            <a:r>
              <a:rPr dirty="0" err="1"/>
              <a:t>riscos</a:t>
            </a:r>
            <a:r>
              <a:rPr dirty="0"/>
              <a:t> </a:t>
            </a:r>
            <a:r>
              <a:rPr dirty="0" err="1"/>
              <a:t>elétricos</a:t>
            </a:r>
            <a:r>
              <a:rPr dirty="0"/>
              <a:t>/</a:t>
            </a:r>
            <a:r>
              <a:rPr dirty="0" err="1"/>
              <a:t>incêndio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09728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♿ Acessibilidade &amp; Suporte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Suporte remoto em minutos (AnyDesk) e ramais diretos para toda a equipe.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3840480"/>
            <a:ext cx="109728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📋 Governança TechControl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Execução controlada por chamados transparentes e orçamentados no portal.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Diagnóstico do Parque Físico — Levantamento TechControl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rPr dirty="0"/>
              <a:t>📊 RESUMO DO ESTOQUE ATUAL NO CMD: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rPr dirty="0"/>
              <a:t>• 12 Desktops Parados: 9 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reutilizáveis</a:t>
            </a:r>
            <a:r>
              <a:rPr dirty="0"/>
              <a:t>/boas para </a:t>
            </a:r>
            <a:r>
              <a:rPr dirty="0" err="1"/>
              <a:t>realocação</a:t>
            </a:r>
            <a:r>
              <a:rPr dirty="0"/>
              <a:t> </a:t>
            </a:r>
            <a:r>
              <a:rPr dirty="0" err="1"/>
              <a:t>rápida</a:t>
            </a:r>
            <a:r>
              <a:rPr dirty="0"/>
              <a:t> e 3 quebradas.</a:t>
            </a:r>
            <a:br>
              <a:rPr dirty="0"/>
            </a:br>
            <a:r>
              <a:rPr dirty="0"/>
              <a:t>• 10 </a:t>
            </a:r>
            <a:r>
              <a:rPr dirty="0" err="1"/>
              <a:t>Monitores</a:t>
            </a:r>
            <a:r>
              <a:rPr dirty="0"/>
              <a:t> Parados: 1 monitor com </a:t>
            </a:r>
            <a:r>
              <a:rPr dirty="0" err="1"/>
              <a:t>ajuste</a:t>
            </a:r>
            <a:r>
              <a:rPr dirty="0"/>
              <a:t> de </a:t>
            </a:r>
            <a:r>
              <a:rPr dirty="0" err="1"/>
              <a:t>altura</a:t>
            </a:r>
            <a:r>
              <a:rPr dirty="0"/>
              <a:t> </a:t>
            </a:r>
            <a:r>
              <a:rPr dirty="0" err="1"/>
              <a:t>ergonômico</a:t>
            </a:r>
            <a:r>
              <a:rPr dirty="0"/>
              <a:t> </a:t>
            </a:r>
            <a:r>
              <a:rPr dirty="0" err="1"/>
              <a:t>disponível</a:t>
            </a:r>
            <a:r>
              <a:rPr dirty="0"/>
              <a:t> para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imediato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rPr dirty="0"/>
              <a:t>🚨 MAQUINÁRIO CRÍTICO E OBSOLETO IDENTIFICADO (5 A 11 ANOS DE USO):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Sala Industrial: 11 </a:t>
            </a:r>
            <a:r>
              <a:rPr dirty="0" err="1"/>
              <a:t>anos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— [</a:t>
            </a:r>
            <a:r>
              <a:rPr dirty="0" err="1"/>
              <a:t>Crítico</a:t>
            </a:r>
            <a:r>
              <a:rPr dirty="0"/>
              <a:t> / </a:t>
            </a:r>
            <a:r>
              <a:rPr dirty="0" err="1"/>
              <a:t>Lentidão</a:t>
            </a:r>
            <a:r>
              <a:rPr dirty="0"/>
              <a:t> </a:t>
            </a:r>
            <a:r>
              <a:rPr dirty="0" err="1"/>
              <a:t>constante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operação</a:t>
            </a:r>
            <a:r>
              <a:rPr dirty="0"/>
              <a:t>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Sala Bio: 10 </a:t>
            </a:r>
            <a:r>
              <a:rPr dirty="0" err="1"/>
              <a:t>anos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— [</a:t>
            </a:r>
            <a:r>
              <a:rPr dirty="0" err="1"/>
              <a:t>Crítico</a:t>
            </a:r>
            <a:r>
              <a:rPr dirty="0"/>
              <a:t> / </a:t>
            </a:r>
            <a:r>
              <a:rPr dirty="0" err="1"/>
              <a:t>Riscos</a:t>
            </a:r>
            <a:r>
              <a:rPr dirty="0"/>
              <a:t> de </a:t>
            </a:r>
            <a:r>
              <a:rPr dirty="0" err="1"/>
              <a:t>perda</a:t>
            </a:r>
            <a:r>
              <a:rPr dirty="0"/>
              <a:t> de dados e </a:t>
            </a:r>
            <a:r>
              <a:rPr dirty="0" err="1"/>
              <a:t>travamento</a:t>
            </a:r>
            <a:r>
              <a:rPr dirty="0"/>
              <a:t>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Aprendiz Lohany / Bruna: 9 </a:t>
            </a:r>
            <a:r>
              <a:rPr dirty="0" err="1"/>
              <a:t>anos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— [</a:t>
            </a:r>
            <a:r>
              <a:rPr dirty="0" err="1"/>
              <a:t>Compartilham</a:t>
            </a:r>
            <a:r>
              <a:rPr dirty="0"/>
              <a:t> </a:t>
            </a:r>
            <a:r>
              <a:rPr dirty="0" err="1"/>
              <a:t>máquina</a:t>
            </a:r>
            <a:r>
              <a:rPr dirty="0"/>
              <a:t> </a:t>
            </a:r>
            <a:r>
              <a:rPr dirty="0" err="1"/>
              <a:t>antiga</a:t>
            </a:r>
            <a:r>
              <a:rPr dirty="0"/>
              <a:t> de 9 </a:t>
            </a:r>
            <a:r>
              <a:rPr dirty="0" err="1"/>
              <a:t>anos</a:t>
            </a:r>
            <a:r>
              <a:rPr dirty="0"/>
              <a:t>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Check-out (</a:t>
            </a:r>
            <a:r>
              <a:rPr dirty="0" err="1"/>
              <a:t>Produção</a:t>
            </a:r>
            <a:r>
              <a:rPr dirty="0"/>
              <a:t>): 7 </a:t>
            </a:r>
            <a:r>
              <a:rPr dirty="0" err="1"/>
              <a:t>anos</a:t>
            </a:r>
            <a:r>
              <a:rPr dirty="0"/>
              <a:t> e 5 </a:t>
            </a:r>
            <a:r>
              <a:rPr dirty="0" err="1"/>
              <a:t>anos</a:t>
            </a:r>
            <a:r>
              <a:rPr dirty="0"/>
              <a:t> — [2 </a:t>
            </a:r>
            <a:r>
              <a:rPr dirty="0" err="1"/>
              <a:t>máquinas</a:t>
            </a:r>
            <a:r>
              <a:rPr dirty="0"/>
              <a:t> </a:t>
            </a:r>
            <a:r>
              <a:rPr dirty="0" err="1"/>
              <a:t>defasadas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setor</a:t>
            </a:r>
            <a:r>
              <a:rPr dirty="0"/>
              <a:t> </a:t>
            </a:r>
            <a:r>
              <a:rPr dirty="0" err="1"/>
              <a:t>dinâmico</a:t>
            </a:r>
            <a:r>
              <a:rPr dirty="0"/>
              <a:t>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DRC (Yara), </a:t>
            </a:r>
            <a:r>
              <a:rPr dirty="0" err="1"/>
              <a:t>Kauana</a:t>
            </a:r>
            <a:r>
              <a:rPr dirty="0"/>
              <a:t>, Tatally, Tiago: 7 </a:t>
            </a:r>
            <a:r>
              <a:rPr dirty="0" err="1"/>
              <a:t>anos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— [4 </a:t>
            </a:r>
            <a:r>
              <a:rPr dirty="0" err="1"/>
              <a:t>máquinas</a:t>
            </a:r>
            <a:r>
              <a:rPr dirty="0"/>
              <a:t> com forte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rotina</a:t>
            </a:r>
            <a:r>
              <a:rPr dirty="0"/>
              <a:t>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Aprendiz Bárbara: Sem </a:t>
            </a:r>
            <a:r>
              <a:rPr dirty="0" err="1"/>
              <a:t>máquina</a:t>
            </a:r>
            <a:r>
              <a:rPr dirty="0"/>
              <a:t> </a:t>
            </a:r>
            <a:r>
              <a:rPr dirty="0" err="1"/>
              <a:t>fixa</a:t>
            </a:r>
            <a:r>
              <a:rPr dirty="0"/>
              <a:t> — [</a:t>
            </a:r>
            <a:r>
              <a:rPr dirty="0" err="1"/>
              <a:t>Utiliza</a:t>
            </a:r>
            <a:r>
              <a:rPr dirty="0"/>
              <a:t> </a:t>
            </a:r>
            <a:r>
              <a:rPr dirty="0" err="1"/>
              <a:t>temporariamente</a:t>
            </a:r>
            <a:r>
              <a:rPr dirty="0"/>
              <a:t> um notebook]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Grazieli</a:t>
            </a:r>
            <a:r>
              <a:rPr dirty="0"/>
              <a:t>: 3 </a:t>
            </a:r>
            <a:r>
              <a:rPr dirty="0" err="1"/>
              <a:t>anos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— [</a:t>
            </a:r>
            <a:r>
              <a:rPr dirty="0" err="1"/>
              <a:t>Equipamento</a:t>
            </a:r>
            <a:r>
              <a:rPr dirty="0"/>
              <a:t> com </a:t>
            </a:r>
            <a:r>
              <a:rPr dirty="0" err="1"/>
              <a:t>péssima</a:t>
            </a:r>
            <a:r>
              <a:rPr dirty="0"/>
              <a:t> </a:t>
            </a:r>
            <a:r>
              <a:rPr dirty="0" err="1"/>
              <a:t>condição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]</a:t>
            </a:r>
            <a:br>
              <a:rPr lang="pt-BR" dirty="0"/>
            </a:br>
            <a:r>
              <a:rPr lang="pt-BR" dirty="0"/>
              <a:t>• Ricardo Santos: 4 anos de uso — [Problemas sérios no equipamento]</a:t>
            </a:r>
            <a:br>
              <a:rPr lang="pt-BR" dirty="0"/>
            </a:b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Governança de TI — Política de Ciclo de Vida do Hardware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🔄 POLÍTICA DE FORMATAÇÃO PREVENTIVA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Periodicidade: A cada 2,5 anos (30 meses)</a:t>
            </a:r>
            <a:br/>
            <a:br/>
            <a:r>
              <a:t>Benefícios Directos:</a:t>
            </a:r>
            <a:br/>
            <a:r>
              <a:t>• Limpeza profunda de arquivos temporários e registros acumulados.</a:t>
            </a:r>
            <a:br/>
            <a:r>
              <a:t>• Reinstalação limpa do SO e softwares corporativos.</a:t>
            </a:r>
            <a:br/>
            <a:r>
              <a:t>• Restauração da velocidade máxima e estabilidade da máquina.</a:t>
            </a:r>
            <a:br/>
            <a:r>
              <a:t>• Diagnóstico preventivo de integridade de disco (HD/SSD).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⏱️ TEMPO MÁXIMO DE PERMANÊNCIA (5 ANOS)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Limite Operacional: 5 anos de uso máximo</a:t>
            </a:r>
            <a:br/>
            <a:br/>
            <a:r>
              <a:t>Estratégia de Desmobilização:</a:t>
            </a:r>
            <a:br/>
            <a:r>
              <a:t>• Venda de ativos usados para recuperação parcial de caixa.</a:t>
            </a:r>
            <a:br/>
            <a:r>
              <a:t>• Realocação estratégica para setores secundários ou desfazimento.</a:t>
            </a:r>
            <a:br/>
            <a:r>
              <a:t>• Eliminação de custos recorrentes com manutenção fora da garantia.</a:t>
            </a:r>
            <a:br/>
            <a:r>
              <a:t>• Manutenção de um parque de TI sempre moderno e padronizado.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dirty="0"/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rPr dirty="0" err="1"/>
              <a:t>Ergonomia</a:t>
            </a:r>
            <a:r>
              <a:rPr dirty="0"/>
              <a:t> &amp; </a:t>
            </a:r>
            <a:r>
              <a:rPr dirty="0" err="1"/>
              <a:t>Saúde</a:t>
            </a:r>
            <a:r>
              <a:rPr dirty="0"/>
              <a:t> </a:t>
            </a:r>
            <a:r>
              <a:rPr dirty="0" err="1"/>
              <a:t>Ocupacional</a:t>
            </a:r>
            <a:r>
              <a:rPr dirty="0"/>
              <a:t> — </a:t>
            </a:r>
            <a:r>
              <a:rPr dirty="0" err="1"/>
              <a:t>Recomendações</a:t>
            </a:r>
            <a:r>
              <a:rPr dirty="0"/>
              <a:t> CIPA</a:t>
            </a:r>
            <a:r>
              <a:rPr lang="pt-BR" dirty="0"/>
              <a:t>A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⚠️ EXIGÊNCIA DA CIPA: ERGONOMIA E REGULAGEM DE ALTURA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Identificou-se a presença de monitores não ajustáveis em diversas estações de trabalho, causando fadiga postural nos colaboradores e descumprindo os padrões normativos.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014984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rPr dirty="0"/>
              <a:t>📋 PLANO DE AÇÃO PARA MONITORES ERGONÔMICOS: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rPr dirty="0"/>
              <a:t>1. </a:t>
            </a:r>
            <a:r>
              <a:rPr dirty="0" err="1"/>
              <a:t>Realocação</a:t>
            </a:r>
            <a:r>
              <a:rPr dirty="0"/>
              <a:t> </a:t>
            </a:r>
            <a:r>
              <a:rPr dirty="0" err="1"/>
              <a:t>Imediata</a:t>
            </a:r>
            <a:r>
              <a:rPr dirty="0"/>
              <a:t>: 1 Monitor </a:t>
            </a:r>
            <a:r>
              <a:rPr dirty="0" err="1"/>
              <a:t>Ajustável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estoque C</a:t>
            </a:r>
            <a:r>
              <a:rPr lang="pt-BR" dirty="0"/>
              <a:t>P</a:t>
            </a:r>
            <a:r>
              <a:rPr dirty="0"/>
              <a:t>D </a:t>
            </a:r>
            <a:r>
              <a:rPr dirty="0" err="1"/>
              <a:t>atribuído</a:t>
            </a:r>
            <a:r>
              <a:rPr dirty="0"/>
              <a:t> a 1 </a:t>
            </a:r>
            <a:r>
              <a:rPr dirty="0" err="1"/>
              <a:t>colaborador</a:t>
            </a:r>
            <a:r>
              <a:rPr dirty="0"/>
              <a:t> </a:t>
            </a:r>
            <a:r>
              <a:rPr dirty="0" err="1"/>
              <a:t>prioritário</a:t>
            </a:r>
            <a:r>
              <a:rPr dirty="0"/>
              <a:t>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rPr dirty="0"/>
              <a:t>2. </a:t>
            </a:r>
            <a:r>
              <a:rPr dirty="0" err="1"/>
              <a:t>Aquisição</a:t>
            </a:r>
            <a:r>
              <a:rPr dirty="0"/>
              <a:t> </a:t>
            </a:r>
            <a:r>
              <a:rPr dirty="0" err="1"/>
              <a:t>Complementar</a:t>
            </a:r>
            <a:r>
              <a:rPr dirty="0"/>
              <a:t>: </a:t>
            </a:r>
            <a:r>
              <a:rPr dirty="0" err="1"/>
              <a:t>Compra</a:t>
            </a:r>
            <a:r>
              <a:rPr dirty="0"/>
              <a:t> de </a:t>
            </a:r>
            <a:r>
              <a:rPr dirty="0" err="1"/>
              <a:t>monitores</a:t>
            </a:r>
            <a:r>
              <a:rPr dirty="0"/>
              <a:t> </a:t>
            </a:r>
            <a:r>
              <a:rPr dirty="0" err="1"/>
              <a:t>ergonômicos</a:t>
            </a:r>
            <a:r>
              <a:rPr dirty="0"/>
              <a:t> com </a:t>
            </a:r>
            <a:r>
              <a:rPr dirty="0" err="1"/>
              <a:t>regulagem</a:t>
            </a:r>
            <a:r>
              <a:rPr dirty="0"/>
              <a:t> de </a:t>
            </a:r>
            <a:r>
              <a:rPr dirty="0" err="1"/>
              <a:t>altura</a:t>
            </a:r>
            <a:r>
              <a:rPr dirty="0"/>
              <a:t> para: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rPr dirty="0"/>
              <a:t>   • Leonardo Gomes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rPr dirty="0"/>
              <a:t>   • Sala Bio (</a:t>
            </a:r>
            <a:r>
              <a:rPr dirty="0" err="1"/>
              <a:t>Estação</a:t>
            </a:r>
            <a:r>
              <a:rPr dirty="0"/>
              <a:t> </a:t>
            </a:r>
            <a:r>
              <a:rPr dirty="0" err="1"/>
              <a:t>compartilhada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rPr dirty="0"/>
              <a:t>   • Sala Industrial (</a:t>
            </a:r>
            <a:r>
              <a:rPr dirty="0" err="1"/>
              <a:t>Estação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rPr dirty="0"/>
              <a:t>   • Geovanna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rPr dirty="0"/>
              <a:t>   • </a:t>
            </a:r>
            <a:r>
              <a:rPr dirty="0" err="1"/>
              <a:t>Aprendizes</a:t>
            </a:r>
            <a:r>
              <a:rPr dirty="0"/>
              <a:t> Lohany / Bruna (</a:t>
            </a:r>
            <a:r>
              <a:rPr dirty="0" err="1"/>
              <a:t>Estação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200">
                <a:solidFill>
                  <a:srgbClr val="64748B"/>
                </a:solidFill>
              </a:defRPr>
            </a:pPr>
            <a:r>
              <a:rPr dirty="0"/>
              <a:t>   • Aprendiz Bárbara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Mobilidade Operacional — Transição de Desktops para Notebooks (DEA)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📌 CENÁRIO ATUAL DO DEA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Colaboradores: Edson Espessote e Jennifer Silva.</a:t>
            </a:r>
            <a:br/>
            <a:r>
              <a:t>• Equipamentos Atuais: 2 Desktops fixos de bancada.</a:t>
            </a:r>
            <a:br/>
            <a:r>
              <a:t>• Desafio Operacional: Realizam visitas técnicas frequentes, atuam em campo externo e participam de sucessivas reuniões estratégicas em outras salas.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rPr dirty="0"/>
              <a:t>💡 PLANO DE SOLUÇÃO OTIMIZADO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rPr dirty="0" err="1"/>
              <a:t>Substituição</a:t>
            </a:r>
            <a:r>
              <a:rPr dirty="0"/>
              <a:t> de 2 Desktops </a:t>
            </a:r>
            <a:r>
              <a:rPr dirty="0" err="1"/>
              <a:t>por</a:t>
            </a:r>
            <a:r>
              <a:rPr dirty="0"/>
              <a:t> 2 Notebooks </a:t>
            </a:r>
            <a:r>
              <a:rPr dirty="0" err="1"/>
              <a:t>Corporativos</a:t>
            </a:r>
            <a:r>
              <a:rPr dirty="0"/>
              <a:t>:</a:t>
            </a:r>
            <a:br>
              <a:rPr dirty="0"/>
            </a:br>
            <a:br>
              <a:rPr dirty="0"/>
            </a:br>
            <a:r>
              <a:rPr dirty="0"/>
              <a:t>1. </a:t>
            </a:r>
            <a:r>
              <a:rPr dirty="0" err="1"/>
              <a:t>Reutilização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 (</a:t>
            </a:r>
            <a:r>
              <a:rPr dirty="0" err="1"/>
              <a:t>Custo</a:t>
            </a:r>
            <a:r>
              <a:rPr dirty="0"/>
              <a:t> Zero):</a:t>
            </a:r>
            <a:br>
              <a:rPr dirty="0"/>
            </a:br>
            <a:r>
              <a:rPr dirty="0"/>
              <a:t>   • </a:t>
            </a:r>
            <a:r>
              <a:rPr dirty="0" err="1"/>
              <a:t>Disponibilizar</a:t>
            </a:r>
            <a:r>
              <a:rPr dirty="0"/>
              <a:t> 1 Notebook do estoque (ex-Alisson) para 1 dos </a:t>
            </a:r>
            <a:r>
              <a:rPr dirty="0" err="1"/>
              <a:t>colaboradores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2. </a:t>
            </a:r>
            <a:r>
              <a:rPr dirty="0" err="1"/>
              <a:t>Aquisição</a:t>
            </a:r>
            <a:r>
              <a:rPr dirty="0"/>
              <a:t> </a:t>
            </a:r>
            <a:r>
              <a:rPr dirty="0" err="1"/>
              <a:t>Complementar</a:t>
            </a:r>
            <a:r>
              <a:rPr dirty="0"/>
              <a:t>:</a:t>
            </a:r>
            <a:br>
              <a:rPr dirty="0"/>
            </a:br>
            <a:r>
              <a:rPr dirty="0"/>
              <a:t>   • </a:t>
            </a:r>
            <a:r>
              <a:rPr dirty="0" err="1"/>
              <a:t>Comprar</a:t>
            </a:r>
            <a:r>
              <a:rPr dirty="0"/>
              <a:t> 1 novo Notebook </a:t>
            </a:r>
            <a:r>
              <a:rPr dirty="0" err="1"/>
              <a:t>corporativo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3. </a:t>
            </a:r>
            <a:r>
              <a:rPr dirty="0" err="1"/>
              <a:t>Resultado</a:t>
            </a:r>
            <a:r>
              <a:rPr dirty="0"/>
              <a:t>: </a:t>
            </a:r>
            <a:r>
              <a:rPr lang="pt-BR" dirty="0"/>
              <a:t>mobilização</a:t>
            </a:r>
            <a:r>
              <a:rPr dirty="0"/>
              <a:t> dos 2 desktops </a:t>
            </a:r>
            <a:r>
              <a:rPr dirty="0" err="1"/>
              <a:t>fixos</a:t>
            </a:r>
            <a:r>
              <a:rPr dirty="0"/>
              <a:t> para </a:t>
            </a:r>
            <a:r>
              <a:rPr lang="pt-BR" dirty="0"/>
              <a:t>Movimentações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Eficiência do Suporte Remoto &amp; Estação da TI (Kauan)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🔑 LICENÇA ANYDESK CORPORATIVO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Agilidade no Atendimento de Chamados:</a:t>
            </a:r>
            <a:br/>
            <a:br/>
            <a:r>
              <a:t>• Suporte remoto instantâneo para colaboradores externos (vendedores, consultores e campo).</a:t>
            </a:r>
            <a:br/>
            <a:r>
              <a:t>• Resolução de incidentes internos sem necessidade de deslocamento físico.</a:t>
            </a:r>
            <a:br/>
            <a:r>
              <a:t>• Redução do Tempo Médio de Atendimento (TMA) de horas para poucos minutos.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rPr dirty="0"/>
              <a:t>🖥️ SEGUNDO MONITOR PARA A TI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rPr dirty="0" err="1"/>
              <a:t>Instalação</a:t>
            </a:r>
            <a:r>
              <a:rPr dirty="0"/>
              <a:t> de Monitor Antigo </a:t>
            </a:r>
            <a:r>
              <a:rPr dirty="0" err="1"/>
              <a:t>em</a:t>
            </a:r>
            <a:r>
              <a:rPr dirty="0"/>
              <a:t> Estoque:</a:t>
            </a:r>
            <a:br>
              <a:rPr dirty="0"/>
            </a:br>
            <a:br>
              <a:rPr dirty="0"/>
            </a:br>
            <a:r>
              <a:rPr dirty="0"/>
              <a:t>• Tela 1: </a:t>
            </a:r>
            <a:r>
              <a:rPr dirty="0" err="1"/>
              <a:t>Monitoramento</a:t>
            </a:r>
            <a:r>
              <a:rPr dirty="0"/>
              <a:t> </a:t>
            </a:r>
            <a:r>
              <a:rPr dirty="0" err="1"/>
              <a:t>contínuo</a:t>
            </a:r>
            <a:r>
              <a:rPr dirty="0"/>
              <a:t> dos </a:t>
            </a:r>
            <a:r>
              <a:rPr dirty="0" err="1"/>
              <a:t>chamados</a:t>
            </a:r>
            <a:r>
              <a:rPr dirty="0"/>
              <a:t> e </a:t>
            </a:r>
            <a:r>
              <a:rPr dirty="0" err="1"/>
              <a:t>painéis</a:t>
            </a:r>
            <a:r>
              <a:rPr dirty="0"/>
              <a:t> do </a:t>
            </a:r>
            <a:r>
              <a:rPr dirty="0" err="1"/>
              <a:t>TechControl</a:t>
            </a:r>
            <a:r>
              <a:rPr dirty="0"/>
              <a:t>.</a:t>
            </a:r>
            <a:br>
              <a:rPr dirty="0"/>
            </a:br>
            <a:r>
              <a:rPr dirty="0"/>
              <a:t>• Tela 2: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remoto</a:t>
            </a:r>
            <a:r>
              <a:rPr dirty="0"/>
              <a:t> via </a:t>
            </a:r>
            <a:r>
              <a:rPr dirty="0" err="1"/>
              <a:t>AnyDesk</a:t>
            </a:r>
            <a:r>
              <a:rPr dirty="0"/>
              <a:t> e </a:t>
            </a:r>
            <a:r>
              <a:rPr dirty="0" err="1"/>
              <a:t>execução</a:t>
            </a:r>
            <a:r>
              <a:rPr dirty="0"/>
              <a:t> de scripts de </a:t>
            </a:r>
            <a:r>
              <a:rPr dirty="0" err="1"/>
              <a:t>suporte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Custo</a:t>
            </a:r>
            <a:r>
              <a:rPr dirty="0"/>
              <a:t> de Hardware: ZERO (</a:t>
            </a:r>
            <a:r>
              <a:rPr dirty="0" err="1"/>
              <a:t>Reaproveitamento</a:t>
            </a:r>
            <a:r>
              <a:rPr dirty="0"/>
              <a:t> de monitor </a:t>
            </a:r>
            <a:r>
              <a:rPr dirty="0" err="1"/>
              <a:t>em</a:t>
            </a:r>
            <a:r>
              <a:rPr dirty="0"/>
              <a:t> estoque no C</a:t>
            </a:r>
            <a:r>
              <a:rPr lang="pt-BR" dirty="0"/>
              <a:t>P</a:t>
            </a:r>
            <a:r>
              <a:rPr dirty="0"/>
              <a:t>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Segurança Patrimonial &amp; Infraestrutura Física (Rede e Energia)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🌐 PONTOS DE REDE (CERTIFICAÇÃO)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Alerta CIPA &amp; Análise de Cabeamento:</a:t>
            </a:r>
            <a:br/>
            <a:br/>
            <a:r>
              <a:t>• Presença de diversos cabos de rede soltos e não utilizados pelos setores.</a:t>
            </a:r>
            <a:br/>
            <a:r>
              <a:t>• Visita técnica especializada para auditoria completa:</a:t>
            </a:r>
            <a:br/>
            <a:r>
              <a:t>  - Testar funcionalidade de 100% dos pontos.</a:t>
            </a:r>
            <a:br/>
            <a:r>
              <a:t>  - Mapear a real necessidade por mesa/setor.</a:t>
            </a:r>
            <a:br/>
            <a:r>
              <a:t>  - Identificar, organizar e recolher cabos ociosos.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⚡ PREVENÇÃO DE RISCO ELÉTRICO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Sobrecarga de Tomadas &amp; Prevenção:</a:t>
            </a:r>
            <a:br/>
            <a:br/>
            <a:r>
              <a:t>• Exemplo Crítico na Sala CCO:</a:t>
            </a:r>
            <a:br/>
            <a:r>
              <a:t>  - 14 equipamentos ligados (desktops, monitores, frigobar, TV) alimentados por apenas 4 tomadas de parede.</a:t>
            </a:r>
            <a:br/>
            <a:r>
              <a:t>• Risco de curtos-circuitos e aquecimento.</a:t>
            </a:r>
            <a:br/>
            <a:r>
              <a:t>• Ação: Mapeamento de carga elétrica em todas as salas e instalação de réguas/tomadas adequadas.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Comunicação Eficiente &amp; Organização Visual dos Ambientes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 dirty="0"/>
              <a:t>📞 TELEFONIA &amp; RAMAIS FIXOS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rPr dirty="0" err="1"/>
              <a:t>Resolução</a:t>
            </a:r>
            <a:r>
              <a:rPr dirty="0"/>
              <a:t> de </a:t>
            </a:r>
            <a:r>
              <a:rPr dirty="0" err="1"/>
              <a:t>Deslocamentos</a:t>
            </a:r>
            <a:r>
              <a:rPr dirty="0"/>
              <a:t> </a:t>
            </a:r>
            <a:r>
              <a:rPr dirty="0" err="1"/>
              <a:t>Indevidos</a:t>
            </a:r>
            <a:r>
              <a:rPr dirty="0"/>
              <a:t>: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Situação</a:t>
            </a:r>
            <a:r>
              <a:rPr dirty="0"/>
              <a:t> </a:t>
            </a:r>
            <a:r>
              <a:rPr dirty="0" err="1"/>
              <a:t>Atual</a:t>
            </a:r>
            <a:r>
              <a:rPr dirty="0"/>
              <a:t>: Edson, Emily e Elder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possuem</a:t>
            </a:r>
            <a:r>
              <a:rPr dirty="0"/>
              <a:t> ramal </a:t>
            </a:r>
            <a:r>
              <a:rPr dirty="0" err="1"/>
              <a:t>direto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mesa.</a:t>
            </a:r>
            <a:br>
              <a:rPr dirty="0"/>
            </a:br>
            <a:r>
              <a:rPr dirty="0"/>
              <a:t>• </a:t>
            </a:r>
            <a:r>
              <a:rPr dirty="0" err="1"/>
              <a:t>Deslocamento</a:t>
            </a:r>
            <a:r>
              <a:rPr dirty="0"/>
              <a:t> </a:t>
            </a:r>
            <a:r>
              <a:rPr dirty="0" err="1"/>
              <a:t>frequente</a:t>
            </a:r>
            <a:r>
              <a:rPr dirty="0"/>
              <a:t> para mesas de </a:t>
            </a:r>
            <a:r>
              <a:rPr dirty="0" err="1"/>
              <a:t>colegas</a:t>
            </a:r>
            <a:r>
              <a:rPr dirty="0"/>
              <a:t> (Jennifer e Fernanda) para </a:t>
            </a:r>
            <a:r>
              <a:rPr dirty="0" err="1"/>
              <a:t>atender</a:t>
            </a:r>
            <a:r>
              <a:rPr dirty="0"/>
              <a:t> </a:t>
            </a:r>
            <a:r>
              <a:rPr dirty="0" err="1"/>
              <a:t>chamadas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Solução</a:t>
            </a:r>
            <a:r>
              <a:rPr dirty="0"/>
              <a:t>: </a:t>
            </a:r>
            <a:r>
              <a:rPr dirty="0" err="1"/>
              <a:t>Instalação</a:t>
            </a:r>
            <a:r>
              <a:rPr dirty="0"/>
              <a:t> de </a:t>
            </a:r>
            <a:r>
              <a:rPr dirty="0" err="1"/>
              <a:t>ramais</a:t>
            </a:r>
            <a:r>
              <a:rPr dirty="0"/>
              <a:t> </a:t>
            </a:r>
            <a:r>
              <a:rPr dirty="0" err="1"/>
              <a:t>diretos</a:t>
            </a:r>
            <a:r>
              <a:rPr dirty="0"/>
              <a:t> </a:t>
            </a:r>
            <a:r>
              <a:rPr dirty="0" err="1"/>
              <a:t>utilizando</a:t>
            </a:r>
            <a:r>
              <a:rPr dirty="0"/>
              <a:t> 1 </a:t>
            </a:r>
            <a:r>
              <a:rPr dirty="0" err="1"/>
              <a:t>aparelho</a:t>
            </a:r>
            <a:r>
              <a:rPr dirty="0"/>
              <a:t> </a:t>
            </a:r>
            <a:r>
              <a:rPr dirty="0" err="1"/>
              <a:t>disponível</a:t>
            </a:r>
            <a:r>
              <a:rPr dirty="0"/>
              <a:t> no estoque + </a:t>
            </a:r>
            <a:r>
              <a:rPr dirty="0" err="1"/>
              <a:t>aquisição</a:t>
            </a:r>
            <a:r>
              <a:rPr dirty="0"/>
              <a:t> </a:t>
            </a:r>
            <a:r>
              <a:rPr dirty="0" err="1"/>
              <a:t>complementar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rPr dirty="0"/>
              <a:t>⌨️ PERIFÉRICOS SEM FIO (BLUETOOTH)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rPr dirty="0" err="1"/>
              <a:t>Padronização</a:t>
            </a:r>
            <a:r>
              <a:rPr dirty="0"/>
              <a:t> Visual &amp; </a:t>
            </a:r>
            <a:r>
              <a:rPr dirty="0" err="1"/>
              <a:t>Organização</a:t>
            </a:r>
            <a:r>
              <a:rPr dirty="0"/>
              <a:t>: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Substituição</a:t>
            </a:r>
            <a:r>
              <a:rPr dirty="0"/>
              <a:t> gradual de </a:t>
            </a:r>
            <a:r>
              <a:rPr dirty="0" err="1"/>
              <a:t>teclados</a:t>
            </a:r>
            <a:r>
              <a:rPr dirty="0"/>
              <a:t> e mouses com </a:t>
            </a:r>
            <a:r>
              <a:rPr dirty="0" err="1"/>
              <a:t>fio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kits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fio</a:t>
            </a:r>
            <a:r>
              <a:rPr dirty="0"/>
              <a:t> (Bluetooth/Wireless).</a:t>
            </a:r>
            <a:br>
              <a:rPr dirty="0"/>
            </a:br>
            <a:r>
              <a:rPr dirty="0"/>
              <a:t>• </a:t>
            </a:r>
            <a:r>
              <a:rPr dirty="0" err="1"/>
              <a:t>Redução</a:t>
            </a:r>
            <a:r>
              <a:rPr dirty="0"/>
              <a:t> </a:t>
            </a:r>
            <a:r>
              <a:rPr dirty="0" err="1"/>
              <a:t>substancial</a:t>
            </a:r>
            <a:r>
              <a:rPr dirty="0"/>
              <a:t> de </a:t>
            </a:r>
            <a:r>
              <a:rPr dirty="0" err="1"/>
              <a:t>cabos</a:t>
            </a:r>
            <a:r>
              <a:rPr dirty="0"/>
              <a:t> </a:t>
            </a:r>
            <a:r>
              <a:rPr dirty="0" err="1"/>
              <a:t>expostos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as mesas </a:t>
            </a:r>
            <a:r>
              <a:rPr dirty="0" err="1"/>
              <a:t>corporativas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Aspecto</a:t>
            </a:r>
            <a:r>
              <a:rPr dirty="0"/>
              <a:t> visual </a:t>
            </a:r>
            <a:r>
              <a:rPr dirty="0" err="1"/>
              <a:t>limpo</a:t>
            </a:r>
            <a:r>
              <a:rPr dirty="0"/>
              <a:t>, </a:t>
            </a:r>
            <a:r>
              <a:rPr dirty="0" err="1"/>
              <a:t>moderno</a:t>
            </a:r>
            <a:r>
              <a:rPr dirty="0"/>
              <a:t> e </a:t>
            </a:r>
            <a:r>
              <a:rPr dirty="0" err="1"/>
              <a:t>organizado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escritórios</a:t>
            </a:r>
            <a:r>
              <a:rPr dirty="0"/>
              <a:t> da Interlub.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Infraestrutura de Centro de Controle, Eventos &amp; Operações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📺 Televisão para a Sala CCO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A televisão atual não suporta espelhamento/projeção de tela adequado. Sugere-se a substituição por uma Smart TV compatível com os sistemas de monitoramento em tempo real do Centro de Controle Operacional.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9728" cy="1463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🔊 Kit de Som + Microfones para Eventos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Aquisição de 1 Caixa de Som Amplificada + Microfones para reuniões gerais, treinamentos da CIPA, palestras e apresentações institucionais internas e externas.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109728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🏭 Nova Estação do Elder no Galpão/Operações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Estruturação de mesa ergonômica com notebook diretamente no setor operacional (ex: Sala Industrial), garantindo presença física e agilidade nos processos fabris.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Otimização de Processos — Credenciais M365 &amp; Ponto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🔐 AUTONOMIA NA CRIAÇÃO DE USUÁRIOS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Novo Fluxo de Onboarding:</a:t>
            </a:r>
            <a:br/>
            <a:br/>
            <a:r>
              <a:t>• Cenário Atual: Triangulação morosa enviando solicitações ao México (Office) e Tecnocomp (Rede local).</a:t>
            </a:r>
            <a:br/>
            <a:r>
              <a:t>• Proposta de Mudança: A TI da Interlub assume o provisionamento direto e imediato das credenciais da rede e licenças Microsoft 365.</a:t>
            </a:r>
            <a:br/>
            <a:r>
              <a:t>• Resultado: Integração do novo colaborador no mesmo dia de admissão.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📷 WEBCAMS PARA PONTO ELETRÔNICO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Homologação do Novo Sistema de Ponto:</a:t>
            </a:r>
            <a:br/>
            <a:br/>
            <a:r>
              <a:t>• Com a mudança do ponto eletrônico, o registro será realizado na própria estação de trabalho.</a:t>
            </a:r>
            <a:br/>
            <a:r>
              <a:t>• Necessidade: Aquisição de Webcams USB para os desktops do escritório (notebooks já contam com câmera integrada).</a:t>
            </a:r>
            <a:br/>
            <a:r>
              <a:t>• Benefício: Conformidade jurídica e batimento biométrico direto na máquina.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TECHCONTROL — GESTÃO DE TI INTERLUB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Plano de Governança &amp; Próximos Passos no TechControl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🚀 METODOLOGIA DE EXECUÇÃO PÓS-APROVAÇÃO DESSA REUNIÃO: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1. Levantamento Técnico &amp; Orçamentário: Cotação de menor valor para os itens de aquisição (Webcams, TV CCO, Caixa de Som, Monitores Ergonômicos, Notebook e Kits Bluetooth).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2. Abertura de Chamados Rastreados no Portal TechControl: Cada um dos 14 tópicos aprovados será convertido em um chamado oficial de TI no portal.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3. Acompanhamento Transparente em Tempo Real: A diretoria acompanhará o status de cada melhoria diretamente pelos dashboards do TechControl sem ruídos de comunicação.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4. Segunda Reunião de Homologação: Apresentação da planilha de investimentos finais, cronograma de implantação e desmobilização dos ativos antigos.</a:t>
            </a:r>
          </a:p>
          <a:p>
            <a:pPr>
              <a:spcBef>
                <a:spcPts val="2000"/>
              </a:spcBef>
              <a:defRPr sz="1400" b="1">
                <a:solidFill>
                  <a:srgbClr val="059669"/>
                </a:solidFill>
              </a:defRPr>
            </a:pPr>
            <a:r>
              <a:t>Tudo pronto para aprovação dos direcionamentos e início dos chamados no TechControl!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1591</Words>
  <Application>Microsoft Office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Interlub-DSC-Kauan Pereira</cp:lastModifiedBy>
  <cp:revision>3</cp:revision>
  <dcterms:created xsi:type="dcterms:W3CDTF">2013-01-27T09:14:16Z</dcterms:created>
  <dcterms:modified xsi:type="dcterms:W3CDTF">2026-07-29T13:14:57Z</dcterms:modified>
  <cp:category/>
</cp:coreProperties>
</file>